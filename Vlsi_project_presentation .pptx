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31E36-36C8-4CA5-B3DA-6D91A7695C64}" type="datetimeFigureOut"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D2B9B-4461-439E-BBCB-D1DB2EC899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2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443" y="841772"/>
            <a:ext cx="5691116" cy="1965866"/>
          </a:xfrm>
        </p:spPr>
        <p:txBody>
          <a:bodyPr anchor="b">
            <a:normAutofit/>
          </a:bodyPr>
          <a:lstStyle>
            <a:lvl1pPr algn="ctr"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43" y="2882782"/>
            <a:ext cx="5691116" cy="106056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812810" indent="0" algn="ctr">
              <a:buNone/>
              <a:defRPr sz="3200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049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62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47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36" y="415212"/>
            <a:ext cx="6204855" cy="3006644"/>
          </a:xfrm>
        </p:spPr>
        <p:txBody>
          <a:bodyPr anchor="t">
            <a:normAutofit/>
          </a:bodyPr>
          <a:lstStyle>
            <a:lvl1pPr>
              <a:defRPr sz="9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535" y="3442098"/>
            <a:ext cx="6204855" cy="1038463"/>
          </a:xfrm>
        </p:spPr>
        <p:txBody>
          <a:bodyPr anchor="b">
            <a:normAutofit/>
          </a:bodyPr>
          <a:lstStyle>
            <a:lvl1pPr marL="0" indent="0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26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80"/>
            <a:ext cx="8055864" cy="84919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486" y="1369219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8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0547"/>
            <a:ext cx="8059341" cy="85746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264301"/>
            <a:ext cx="386834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3556" b="1" cap="all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1790171"/>
            <a:ext cx="3868340" cy="28238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4301"/>
            <a:ext cx="3887391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3556" b="1" cap="all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790171"/>
            <a:ext cx="3887392" cy="28238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001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64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32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70" y="415212"/>
            <a:ext cx="2696726" cy="1318129"/>
          </a:xfrm>
        </p:spPr>
        <p:txBody>
          <a:bodyPr anchor="t">
            <a:normAutofit/>
          </a:bodyPr>
          <a:lstStyle>
            <a:lvl1pPr>
              <a:defRPr sz="4978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031" y="415212"/>
            <a:ext cx="4709806" cy="4114800"/>
          </a:xfrm>
        </p:spPr>
        <p:txBody>
          <a:bodyPr>
            <a:normAutofit/>
          </a:bodyPr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870" y="1733341"/>
            <a:ext cx="2696726" cy="2796671"/>
          </a:xfrm>
        </p:spPr>
        <p:txBody>
          <a:bodyPr anchor="t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163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" y="418338"/>
            <a:ext cx="2696726" cy="1659235"/>
          </a:xfrm>
        </p:spPr>
        <p:txBody>
          <a:bodyPr anchor="t">
            <a:normAutofit/>
          </a:bodyPr>
          <a:lstStyle>
            <a:lvl1pPr>
              <a:defRPr sz="4978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97490" y="492827"/>
            <a:ext cx="4862765" cy="4166928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2119603"/>
            <a:ext cx="2689190" cy="2575979"/>
          </a:xfrm>
        </p:spPr>
        <p:txBody>
          <a:bodyPr anchor="b"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404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80"/>
            <a:ext cx="7886700" cy="84919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9486" y="1260674"/>
            <a:ext cx="7886700" cy="337204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856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26166" y="433873"/>
            <a:ext cx="1535278" cy="419885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433873"/>
            <a:ext cx="6597516" cy="419884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044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40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80"/>
            <a:ext cx="7990184" cy="849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6" y="1286649"/>
            <a:ext cx="7990184" cy="3445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870" y="4839752"/>
            <a:ext cx="2620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7391" y="4839752"/>
            <a:ext cx="21040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4122" y="4839752"/>
            <a:ext cx="32190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620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162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4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6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2.xml" /><Relationship Id="rId6" Type="http://schemas.openxmlformats.org/officeDocument/2006/relationships/image" Target="../media/image10.png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12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14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16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H="1" flipV="1">
            <a:off x="119311" y="252087"/>
            <a:ext cx="155009" cy="45719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1508760"/>
            <a:ext cx="868680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Design and Simulation of 30 nm</a:t>
            </a:r>
            <a:endParaRPr lang="en-US" sz="220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NMOS and PMOS Devices Using TCAD</a:t>
            </a:r>
            <a:endParaRPr lang="en-US" sz="220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Implementation of a 3-Bit Up Counter</a:t>
            </a:r>
            <a:endParaRPr lang="en-US" sz="220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in Cadence Virtuoso</a:t>
            </a:r>
            <a:endParaRPr lang="en-US" sz="2200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828800" y="3246120"/>
            <a:ext cx="54864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 V (24BEC1520)  |  Tarun Siva M (24BEC1526)  |  Manish V (24BEC1515)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Electronics &amp; Communication Engineering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SENSE, VIT Chennai  |  Guide: Dr. Girija Shanker Sahoo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April 2026</a:t>
            </a:r>
            <a:endParaRPr lang="en-US" sz="900" dirty="0"/>
          </a:p>
        </p:txBody>
      </p:sp>
      <p:pic>
        <p:nvPicPr>
          <p:cNvPr id="14" name="Picture 13" descr="A close-up of a sign&#10;&#10;AI-generated content may be incorrect.">
            <a:extLst>
              <a:ext uri="{FF2B5EF4-FFF2-40B4-BE49-F238E27FC236}">
                <a16:creationId xmlns:a16="http://schemas.microsoft.com/office/drawing/2014/main" id="{FA51CD31-D586-625E-85FE-4EA605F6F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262" y="276421"/>
            <a:ext cx="4087922" cy="11616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02920" cy="5029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8503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581912"/>
            <a:ext cx="502920" cy="5029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1581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6550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386584"/>
            <a:ext cx="502920" cy="5029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2386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4597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Design 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191256"/>
            <a:ext cx="502920" cy="5029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8600" y="3191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264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TCAD Device Architecture (SDE + SDEVICE)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995928"/>
            <a:ext cx="502920" cy="5029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3995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Model Extraction &amp; Cadence Setup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777240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8503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 &amp; Flip-Flop Design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581912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1581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16550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Synchronous Up Counter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386584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2386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24597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191256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3191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32644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Delay Analysis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3995928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3995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Introduction &amp; Background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49377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Moore's Law drives transistor scaling into the nanoscale regime.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The 30 nm node offers higher integration density, faster switching, and lower power consumption.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Bridging device physics (TCAD) with circuit design (Cadence) is a critical industry workflow.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CMOS Technology at 30 nm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CMOS uses complementary NMOS + PMOS pairs for low static power.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Electron/hole mobility mismatch requires careful W/L sizing.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PMOS width ≈ 2.5× NMOS for symmetric switching.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Key 30 nm Challenges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Short Channel Effects (SCE) &amp; Drain-Induced Barrier Lowering (DIBL)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Subthreshold leakage: transistor 'OFF' state is not perfectly non-conductive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Gate oxide reliability: oxide reduced to a few atomic layers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731520"/>
            <a:ext cx="34747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94960" y="731520"/>
            <a:ext cx="3474720" cy="196596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869680" y="731520"/>
            <a:ext cx="0" cy="196596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94960" y="2834640"/>
            <a:ext cx="34747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869680" y="2834640"/>
            <a:ext cx="0" cy="201168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82B3D9-F59E-DD31-A5EE-269DB4FD2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083" y="779462"/>
            <a:ext cx="4063547" cy="38476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 b="1" dirty="0">
                <a:latin typeface="Calibri"/>
                <a:ea typeface="Calibri"/>
                <a:cs typeface="Calibri"/>
              </a:rPr>
              <a:t>Project Objectives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777240"/>
            <a:ext cx="2834640" cy="1920240"/>
          </a:xfrm>
          <a:prstGeom prst="rect">
            <a:avLst/>
          </a:prstGeom>
          <a:solidFill>
            <a:srgbClr val="1E3A6E"/>
          </a:solidFill>
          <a:ln w="10160">
            <a:solidFill>
              <a:srgbClr val="4A9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01  Physical Device Synthesis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8328" y="117957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Design 30 nm NMOS &amp; PMOS in TCAD with correct doping profiles to suppress Short Channel Effects.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777240"/>
            <a:ext cx="2834640" cy="1920240"/>
          </a:xfrm>
          <a:prstGeom prst="rect">
            <a:avLst/>
          </a:prstGeom>
          <a:solidFill>
            <a:srgbClr val="1E3A6E"/>
          </a:solidFill>
          <a:ln w="10160">
            <a:solidFill>
              <a:srgbClr val="4A9F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2112" y="777240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02  Electrical Characterization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17957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Perform Id–Vg &amp; Id–Vd simulations to extract Vth, transconductance (Kp), and Ion/Ioff ratios.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35624" y="777240"/>
            <a:ext cx="2834640" cy="1920240"/>
          </a:xfrm>
          <a:prstGeom prst="rect">
            <a:avLst/>
          </a:prstGeom>
          <a:solidFill>
            <a:srgbClr val="1E3A6E"/>
          </a:solidFill>
          <a:ln w="10160">
            <a:solidFill>
              <a:srgbClr val="4A9F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35624" y="777240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</p:sp>
      <p:sp>
        <p:nvSpPr>
          <p:cNvPr id="14" name="Text 12"/>
          <p:cNvSpPr/>
          <p:nvPr/>
        </p:nvSpPr>
        <p:spPr>
          <a:xfrm>
            <a:off x="6227064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03  Compact Model Extraction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45352" y="117957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Translate TCAD numerical data into a Spectre-compatible .scs model file for Cadence.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62072"/>
            <a:ext cx="2834640" cy="1920240"/>
          </a:xfrm>
          <a:prstGeom prst="rect">
            <a:avLst/>
          </a:prstGeom>
          <a:solidFill>
            <a:srgbClr val="1E3A6E"/>
          </a:solidFill>
          <a:ln w="10160">
            <a:solidFill>
              <a:srgbClr val="4A9F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862072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862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04  Logic Gate Validation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" y="3264408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Implement CMOS Inverter in Cadence; verify Voltage Transfer Characteristic (VTC) symmetry.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82112" y="2862072"/>
            <a:ext cx="2834640" cy="1920240"/>
          </a:xfrm>
          <a:prstGeom prst="rect">
            <a:avLst/>
          </a:prstGeom>
          <a:solidFill>
            <a:srgbClr val="1E3A6E"/>
          </a:solidFill>
          <a:ln w="10160">
            <a:solidFill>
              <a:srgbClr val="4A9F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2862072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2862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05  Circuit-Level Integration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3264408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Design &amp; simulate a 3-bit Synchronous Up Counter using T-Flip Flops and the 30 nm models.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35624" y="2862072"/>
            <a:ext cx="2834640" cy="1920240"/>
          </a:xfrm>
          <a:prstGeom prst="rect">
            <a:avLst/>
          </a:prstGeom>
          <a:solidFill>
            <a:srgbClr val="1E3A6E"/>
          </a:solidFill>
          <a:ln w="10160">
            <a:solidFill>
              <a:srgbClr val="4A9F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35624" y="2862072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</p:sp>
      <p:sp>
        <p:nvSpPr>
          <p:cNvPr id="26" name="Text 24"/>
          <p:cNvSpPr/>
          <p:nvPr/>
        </p:nvSpPr>
        <p:spPr>
          <a:xfrm>
            <a:off x="6227064" y="2862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06  Performance Evaluation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45352" y="3264408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Conduct Transient Analysis: verify 000→111 binary counting and measure propagation delays.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 &amp; Design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170432" cy="1417320"/>
          </a:xfrm>
          <a:prstGeom prst="rect">
            <a:avLst/>
          </a:prstGeom>
          <a:solidFill>
            <a:srgbClr val="1E3A8A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33272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TCAD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Editor (SDE)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987552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Define geometry,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doping profiles,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mesh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99032" y="1668780"/>
            <a:ext cx="329184" cy="0"/>
          </a:xfrm>
          <a:prstGeom prst="line">
            <a:avLst/>
          </a:prstGeom>
          <a:noFill/>
          <a:ln w="1905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960120"/>
            <a:ext cx="1170432" cy="1417320"/>
          </a:xfrm>
          <a:prstGeom prst="rect">
            <a:avLst/>
          </a:prstGeom>
          <a:solidFill>
            <a:srgbClr val="1E3A8A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1033272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SDEVICE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Simulation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83080" y="1719072"/>
            <a:ext cx="987552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37360" y="178308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Solve Drift-Diffusion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equations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Id–Vg, Id–Vd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62072" y="1668780"/>
            <a:ext cx="329184" cy="0"/>
          </a:xfrm>
          <a:prstGeom prst="line">
            <a:avLst/>
          </a:prstGeom>
          <a:noFill/>
          <a:ln w="1905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960120"/>
            <a:ext cx="1170432" cy="1417320"/>
          </a:xfrm>
          <a:prstGeom prst="rect">
            <a:avLst/>
          </a:prstGeom>
          <a:solidFill>
            <a:srgbClr val="1E3A8A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0" y="1033272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Parameter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719072"/>
            <a:ext cx="987552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178308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Extract Vth, Kp, λ,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tox, Ion, Ioff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from 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25112" y="1668780"/>
            <a:ext cx="329184" cy="0"/>
          </a:xfrm>
          <a:prstGeom prst="line">
            <a:avLst/>
          </a:prstGeom>
          <a:noFill/>
          <a:ln w="1905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960120"/>
            <a:ext cx="1170432" cy="1417320"/>
          </a:xfrm>
          <a:prstGeom prst="rect">
            <a:avLst/>
          </a:prstGeom>
          <a:solidFill>
            <a:srgbClr val="0E5C6E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1033272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Spectre .scs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 File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719072"/>
            <a:ext cx="987552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178308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Manual SPICE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model formatted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for Cadence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88152" y="1668780"/>
            <a:ext cx="329184" cy="0"/>
          </a:xfrm>
          <a:prstGeom prst="line">
            <a:avLst/>
          </a:prstGeom>
          <a:noFill/>
          <a:ln w="1905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0760" y="960120"/>
            <a:ext cx="1170432" cy="1417320"/>
          </a:xfrm>
          <a:prstGeom prst="rect">
            <a:avLst/>
          </a:prstGeom>
          <a:solidFill>
            <a:srgbClr val="0E5C6E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1033272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Cadence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Virtuoso ADE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1719072"/>
            <a:ext cx="987552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178308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Import .scs,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build schematics,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run simulations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51192" y="1668780"/>
            <a:ext cx="329184" cy="0"/>
          </a:xfrm>
          <a:prstGeom prst="line">
            <a:avLst/>
          </a:prstGeom>
          <a:noFill/>
          <a:ln w="1905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43800" y="960120"/>
            <a:ext cx="1170432" cy="1417320"/>
          </a:xfrm>
          <a:prstGeom prst="rect">
            <a:avLst/>
          </a:prstGeom>
          <a:solidFill>
            <a:srgbClr val="0E5C6E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89520" y="1033272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3-Bit 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Counter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1719072"/>
            <a:ext cx="987552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89520" y="178308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Gates → T-FF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Counter → Verify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binary 000–111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514600"/>
            <a:ext cx="3840480" cy="274320"/>
          </a:xfrm>
          <a:prstGeom prst="rect">
            <a:avLst/>
          </a:prstGeom>
          <a:solidFill>
            <a:srgbClr val="1E3A8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1: Device Simulation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514600"/>
            <a:ext cx="4251960" cy="274320"/>
          </a:xfrm>
          <a:prstGeom prst="rect">
            <a:avLst/>
          </a:prstGeom>
          <a:solidFill>
            <a:srgbClr val="0E5C6E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25146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2: Circuit Simulation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2926080"/>
            <a:ext cx="8686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2999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Key Design Choices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" y="33649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▸  Gate Length (Lg) = 30 nm  |  Oxide Thickness (tox) = 1.2 nm  |  Substrate Doping = 1×10¹⁷ cm⁻³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371246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▸  NMOS: P-type substrate + Arsenic S/D  |  PMOS: N-type substrate + Boron S/D (mirrored geometry)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" y="405993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▸  PMOS Width = 300 nm (2.5× NMOS = 120 nm) to compensate lower hole mobility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5760" y="440740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▸  Synchronous 3-bit counter: all 3 T-FFs share a common clock to eliminate ripple delay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TCAD Device Architecture (SDE)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4206240" cy="347472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NMOS – 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9319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0" y="1115568"/>
            <a:ext cx="0" cy="210312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310128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Substrate:  </a:t>
            </a:r>
            <a:r>
              <a:rPr lang="en-US" sz="1050" dirty="0">
                <a:solidFill>
                  <a:srgbClr val="1A2B5E"/>
                </a:solidFill>
              </a:rPr>
              <a:t>P-type Silicon (Boron, 1×10¹⁷ cm⁻³)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Source/Drain:  </a:t>
            </a:r>
            <a:r>
              <a:rPr lang="en-US" sz="1050" dirty="0">
                <a:solidFill>
                  <a:srgbClr val="1A2B5E"/>
                </a:solidFill>
              </a:rPr>
              <a:t>N-type (Arsenic, 1×10²⁰ cm⁻³)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Gate:  </a:t>
            </a:r>
            <a:r>
              <a:rPr lang="en-US" sz="1050" dirty="0">
                <a:solidFill>
                  <a:srgbClr val="1A2B5E"/>
                </a:solidFill>
              </a:rPr>
              <a:t>Polysilicon, Lg = 30 nm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Oxide (SiO₂):  </a:t>
            </a:r>
            <a:r>
              <a:rPr lang="en-US" sz="1050" dirty="0">
                <a:solidFill>
                  <a:srgbClr val="1A2B5E"/>
                </a:solidFill>
              </a:rPr>
              <a:t>tox = 1.2 nm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713232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713232"/>
            <a:ext cx="4206240" cy="347472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7132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PMOS – Structure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115568"/>
            <a:ext cx="39319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115568"/>
            <a:ext cx="3931920" cy="210312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778240" y="1115568"/>
            <a:ext cx="0" cy="210312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310128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Substrate:  </a:t>
            </a:r>
            <a:r>
              <a:rPr lang="en-US" sz="1050" dirty="0">
                <a:solidFill>
                  <a:srgbClr val="1A2B5E"/>
                </a:solidFill>
              </a:rPr>
              <a:t>N-type Silicon (Phosphorus, 1×10¹⁷ cm⁻³)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Source/Drain:  </a:t>
            </a:r>
            <a:r>
              <a:rPr lang="en-US" sz="1050" dirty="0">
                <a:solidFill>
                  <a:srgbClr val="1A2B5E"/>
                </a:solidFill>
              </a:rPr>
              <a:t>P-type (Boron, 1×10²⁰ cm⁻³)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Gate:  </a:t>
            </a:r>
            <a:r>
              <a:rPr lang="en-US" sz="1050" dirty="0">
                <a:solidFill>
                  <a:srgbClr val="1A2B5E"/>
                </a:solidFill>
              </a:rPr>
              <a:t>Polysilicon, Lg = 30 nm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Oxide (SiO₂):  </a:t>
            </a:r>
            <a:r>
              <a:rPr lang="en-US" sz="1050" dirty="0">
                <a:solidFill>
                  <a:srgbClr val="1A2B5E"/>
                </a:solidFill>
              </a:rPr>
              <a:t>tox = 1.2 nm (mirrored geometry)</a:t>
            </a:r>
            <a:endParaRPr lang="en-US" sz="1050" dirty="0"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089843-6B8C-35F6-DC4F-E27749B5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293" y="1123721"/>
            <a:ext cx="3875767" cy="2143125"/>
          </a:xfrm>
          <a:prstGeom prst="rect">
            <a:avLst/>
          </a:prstGeom>
        </p:spPr>
      </p:pic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3CD14A-B3D9-9339-6C8F-D65DC4103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94" y="1156154"/>
            <a:ext cx="4049939" cy="2141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SDEVICE Simulation &amp; Parameter Extraction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</a:rPr>
              <a:t>SDEVICE Configuration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Physics models enabled: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5E"/>
                </a:solidFill>
              </a:rPr>
              <a:t>Fermi-Dirac statistics for accurate carrier distribution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5E"/>
                </a:solidFill>
              </a:rPr>
              <a:t>High-Field Saturation for velocity saturation at 30 nm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5E"/>
                </a:solidFill>
              </a:rPr>
              <a:t>SRH recombination model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Solve sequence: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5E"/>
                </a:solidFill>
              </a:rPr>
              <a:t>① Ramp Vd to operating Vdd  →  ② Sweep Vg (0→1V) for Id–Vg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2880360"/>
            <a:ext cx="411480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2880360"/>
            <a:ext cx="4114800" cy="19202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3400" y="2880360"/>
            <a:ext cx="0" cy="19202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713232"/>
            <a:ext cx="43434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</a:rPr>
              <a:t>Extracted Device Parameters (Table 1.1)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15568"/>
          <a:ext cx="420624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NMOS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PMOS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Threshold Voltage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Vth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0.38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−0.40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V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Transconductance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Kp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5.2×10⁻⁴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1.8×10⁻⁴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A/V²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Channel Length Mod.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λ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0.05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0.05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Oxide Thickness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tox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1.2×10⁻⁹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1.2×10⁻⁹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m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ON Current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Ion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1×10⁻⁴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3.2×10⁻⁵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OFF Current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Ioff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1×10⁻⁶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1×10⁻⁶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0" y="3520440"/>
            <a:ext cx="434340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915400" y="3520440"/>
            <a:ext cx="0" cy="128016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3081D33-8B55-CFCD-0BE6-612524CBE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80" y="2833234"/>
            <a:ext cx="2981326" cy="2243818"/>
          </a:xfrm>
          <a:prstGeom prst="rect">
            <a:avLst/>
          </a:prstGeom>
        </p:spPr>
      </p:pic>
      <p:pic>
        <p:nvPicPr>
          <p:cNvPr id="21" name="Picture 2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80BCD1E-B0DA-E810-F1AA-13B489F45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909" y="3225120"/>
            <a:ext cx="3543754" cy="1605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Modular Logic Gate Design in Cadence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28346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834640" cy="347472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1752" y="68580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CMOS Inverter (NOT)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265176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71800" y="1097280"/>
            <a:ext cx="0" cy="14630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" y="265176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Basic building block of all logic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2999232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Wp = 300 nm, Wn = 120 nm (ratio 2.5:1)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" y="334670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Sized for symmetric VTC: Vout switches at Vdd/2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82112" y="685800"/>
            <a:ext cx="28346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82112" y="685800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55264" y="68580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NAND Gates (2 &amp; 3 input)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73552" y="1097280"/>
            <a:ext cx="265176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73552" y="1097280"/>
            <a:ext cx="2651760" cy="14630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25312" y="1097280"/>
            <a:ext cx="0" cy="14630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265176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Universal gates forming flip-flop internals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2999232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Series NMOS pull-down network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34670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Parallel PMOS pull-up network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694176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Both 2-input and 3-input variants built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35624" y="685800"/>
            <a:ext cx="28346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35624" y="685800"/>
            <a:ext cx="2834640" cy="347472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08776" y="68580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AND Gate (2 input)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27064" y="1097280"/>
            <a:ext cx="265176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27064" y="1097280"/>
            <a:ext cx="2651760" cy="14630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878824" y="1097280"/>
            <a:ext cx="0" cy="14630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352" y="265176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NAND + Inverter combination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45352" y="2999232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Used for counter enable logic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45352" y="334670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Bit-1 toggles when Q0 = High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45352" y="3694176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Bit-2 toggles when Q0 AND Q1 = High</a:t>
            </a:r>
            <a:endParaRPr lang="en-US" sz="1000" dirty="0"/>
          </a:p>
        </p:txBody>
      </p:sp>
      <p:pic>
        <p:nvPicPr>
          <p:cNvPr id="39" name="Picture 38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1406F36F-AA94-525D-9D41-5EBFD3BF6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23" y="1032555"/>
            <a:ext cx="2569483" cy="1372962"/>
          </a:xfrm>
          <a:prstGeom prst="rect">
            <a:avLst/>
          </a:prstGeom>
        </p:spPr>
      </p:pic>
      <p:pic>
        <p:nvPicPr>
          <p:cNvPr id="40" name="Picture 39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78ADDAC5-01BF-AC1C-F5E4-9F0AD3DBF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629" y="1033916"/>
            <a:ext cx="1480458" cy="798740"/>
          </a:xfrm>
          <a:prstGeom prst="rect">
            <a:avLst/>
          </a:prstGeom>
        </p:spPr>
      </p:pic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E402CA-8E6F-0D58-7ECE-626E0923B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294" y="1821770"/>
            <a:ext cx="1408340" cy="828677"/>
          </a:xfrm>
          <a:prstGeom prst="rect">
            <a:avLst/>
          </a:prstGeom>
        </p:spPr>
      </p:pic>
      <p:pic>
        <p:nvPicPr>
          <p:cNvPr id="42" name="Picture 41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FA29CE41-D26A-2A0E-8E4C-C2A88737ED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080" y="1050700"/>
            <a:ext cx="2469698" cy="15271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T-Flip Flop Architecture &amp; 3-Bit Counter Integration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114800" cy="4087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4114800" cy="347472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T-Flip Flop (Toggle FF)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39319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3931920" cy="182880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51960" y="1115568"/>
            <a:ext cx="0" cy="182880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999232"/>
            <a:ext cx="39319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Internal structure:  </a:t>
            </a:r>
            <a:r>
              <a:rPr lang="en-US" sz="1050" dirty="0">
                <a:solidFill>
                  <a:srgbClr val="1A2B5E"/>
                </a:solidFill>
              </a:rPr>
              <a:t>Cross-coupled NAND gates + Inverters (master-slave)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Toggle behavior:  </a:t>
            </a:r>
            <a:r>
              <a:rPr lang="en-US" sz="1050" dirty="0">
                <a:solidFill>
                  <a:srgbClr val="1A2B5E"/>
                </a:solidFill>
              </a:rPr>
              <a:t>Q flips at every rising edge of CLK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30 nm integration:  </a:t>
            </a:r>
            <a:r>
              <a:rPr lang="en-US" sz="1050" dirty="0">
                <a:solidFill>
                  <a:srgbClr val="1A2B5E"/>
                </a:solidFill>
              </a:rPr>
              <a:t>Each gate uses custom .scs TCAD models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Tested at:  </a:t>
            </a:r>
            <a:r>
              <a:rPr lang="en-US" sz="1050" dirty="0">
                <a:solidFill>
                  <a:srgbClr val="1A2B5E"/>
                </a:solidFill>
              </a:rPr>
              <a:t>100 MHz clock frequency — no glitches or races observed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713232"/>
            <a:ext cx="4343400" cy="4087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713232"/>
            <a:ext cx="4343400" cy="347472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71323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3-Bit Synchronous Up Counter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1605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115568"/>
            <a:ext cx="4160520" cy="16916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823960" y="1115568"/>
            <a:ext cx="0" cy="16916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871216"/>
          <a:ext cx="4160520" cy="10058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Bit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Toggle Condition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Q0 (LSB)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1st T-FF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Always (T tied to Vdd)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Q1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2nd T-FF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When Q0 = High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Q2 (MSB)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3rd T-FF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When Q0 AND Q1 = High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663440" y="385876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Synchronous design:  </a:t>
            </a:r>
            <a:r>
              <a:rPr lang="en-US" sz="1000" dirty="0">
                <a:solidFill>
                  <a:srgbClr val="1A2B5E"/>
                </a:solidFill>
              </a:rPr>
              <a:t>All 3 flip-flops share a single common clock input, eliminating ripple (race) delays present in asynchronous (ripple) counters.</a:t>
            </a:r>
            <a:endParaRPr lang="en-US" sz="1000" dirty="0"/>
          </a:p>
        </p:txBody>
      </p:sp>
      <p:pic>
        <p:nvPicPr>
          <p:cNvPr id="23" name="Picture 2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82637FE5-A7A5-C1DE-7918-B8FE48BC8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66" y="1114198"/>
            <a:ext cx="3567340" cy="1971676"/>
          </a:xfrm>
          <a:prstGeom prst="rect">
            <a:avLst/>
          </a:prstGeom>
        </p:spPr>
      </p:pic>
      <p:pic>
        <p:nvPicPr>
          <p:cNvPr id="24" name="Picture 2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6852FD19-5155-73CA-1767-768BAE255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807" y="1111477"/>
            <a:ext cx="3223532" cy="17412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– TCAD Device Characteristics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51206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Id – Vg Characteristics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242316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423160" cy="35204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0" y="1115568"/>
            <a:ext cx="0" cy="35204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34640" y="1115568"/>
            <a:ext cx="242316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34640" y="1115568"/>
            <a:ext cx="2423160" cy="35204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57800" y="1115568"/>
            <a:ext cx="0" cy="35204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32120" y="685800"/>
            <a:ext cx="338328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23560" y="749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23560" y="1170432"/>
            <a:ext cx="3200400" cy="56692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23560" y="1170432"/>
            <a:ext cx="54864" cy="566928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42432" y="1207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NMOS Vth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42432" y="14447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FA8"/>
                </a:solidFill>
              </a:rPr>
              <a:t>0.38 V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23560" y="1828800"/>
            <a:ext cx="3200400" cy="56692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23560" y="1828800"/>
            <a:ext cx="54864" cy="566928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42432" y="1865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PMOS Vth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42432" y="21031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C6E"/>
                </a:solidFill>
              </a:rPr>
              <a:t>−0.40 V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23560" y="2487168"/>
            <a:ext cx="3200400" cy="56692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23560" y="2487168"/>
            <a:ext cx="54864" cy="566928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42432" y="25237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NMOS 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42432" y="27614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FA8"/>
                </a:solidFill>
              </a:rPr>
              <a:t>1×10⁻⁴ 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23560" y="3145536"/>
            <a:ext cx="3200400" cy="56692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23560" y="3145536"/>
            <a:ext cx="54864" cy="566928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42432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PMOS 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42432" y="34198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C6E"/>
                </a:solidFill>
              </a:rPr>
              <a:t>3.2×10⁻⁵ 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23560" y="3803904"/>
            <a:ext cx="3200400" cy="56692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623560" y="3803904"/>
            <a:ext cx="54864" cy="56692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42432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Ion/Ioff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42432" y="40782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100× (both)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2356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5E"/>
                </a:solidFill>
              </a:rPr>
              <a:t>▸  Minor DIBL effect observed — remains within acceptable limits for digital switching at 30 nm.</a:t>
            </a:r>
            <a:endParaRPr lang="en-US" sz="950" dirty="0"/>
          </a:p>
        </p:txBody>
      </p:sp>
      <p:pic>
        <p:nvPicPr>
          <p:cNvPr id="39" name="Picture 38" descr="A screen shot of a graph&#10;&#10;AI-generated content may be incorrect.">
            <a:extLst>
              <a:ext uri="{FF2B5EF4-FFF2-40B4-BE49-F238E27FC236}">
                <a16:creationId xmlns:a16="http://schemas.microsoft.com/office/drawing/2014/main" id="{D8997EC8-4128-1AB9-B0A5-BE3AA64C3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82" y="1119414"/>
            <a:ext cx="2544536" cy="3712030"/>
          </a:xfrm>
          <a:prstGeom prst="rect">
            <a:avLst/>
          </a:prstGeom>
        </p:spPr>
      </p:pic>
      <p:pic>
        <p:nvPicPr>
          <p:cNvPr id="40" name="Picture 39" descr="A screen shot of a graph&#10;&#10;AI-generated content may be incorrect.">
            <a:extLst>
              <a:ext uri="{FF2B5EF4-FFF2-40B4-BE49-F238E27FC236}">
                <a16:creationId xmlns:a16="http://schemas.microsoft.com/office/drawing/2014/main" id="{A3113826-8EDE-C47E-042D-1CCA9232D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316" y="1114878"/>
            <a:ext cx="2525941" cy="37211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– CMOS Gate Performance (Transient Analysis)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41605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4160520" cy="411480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0" y="685800"/>
            <a:ext cx="0" cy="411480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685800"/>
            <a:ext cx="429768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915400" y="685800"/>
            <a:ext cx="0" cy="411480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4407408"/>
            <a:ext cx="86868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4074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All gates use the custom 30 nm .scs TCAD-extracted models. Waveforms confirm correct logic behavior for NOT, 2-input NAND, 3-input NAND, and AND gates.</a:t>
            </a:r>
            <a:endParaRPr lang="en-US" sz="1000" dirty="0"/>
          </a:p>
        </p:txBody>
      </p:sp>
      <p:pic>
        <p:nvPicPr>
          <p:cNvPr id="16" name="Picture 15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AF5AA584-0A5D-F6C7-FDB8-7B16C6425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6" y="959984"/>
            <a:ext cx="4020911" cy="3196318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918B9B-8AC9-7251-A03F-A682B8C37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867" y="842056"/>
            <a:ext cx="4229553" cy="33142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– 3-Bit Synchronous Up Counter Output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868680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8686800" cy="28346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15400" y="713232"/>
            <a:ext cx="0" cy="28346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3639312"/>
            <a:ext cx="4160520" cy="11612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675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</a:rPr>
              <a:t>Binary Count Sequence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9867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 → 001 → 010 → 011 → 100 → 101 → 110 → 111 → 000 (repeats)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3342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B5E"/>
                </a:solidFill>
              </a:rPr>
              <a:t>Q0 (LSB) toggles every cycle  |  Q1 toggles every 2 cycles  |  Q2 (MSB) every 4 cycles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3639312"/>
            <a:ext cx="4297680" cy="11612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36758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</a:rPr>
              <a:t>Test Conditions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9867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Clock Frequency:  </a:t>
            </a:r>
            <a:r>
              <a:rPr lang="en-US" sz="1050" dirty="0">
                <a:solidFill>
                  <a:srgbClr val="1A2B5E"/>
                </a:solidFill>
              </a:rPr>
              <a:t>100 MHz  |  </a:t>
            </a:r>
            <a:r>
              <a:rPr lang="en-US" sz="1050" b="1" dirty="0">
                <a:solidFill>
                  <a:srgbClr val="1A2B5E"/>
                </a:solidFill>
              </a:rPr>
              <a:t>Supply Voltage (Vdd):  </a:t>
            </a:r>
            <a:r>
              <a:rPr lang="en-US" sz="1050" dirty="0">
                <a:solidFill>
                  <a:srgbClr val="1A2B5E"/>
                </a:solidFill>
              </a:rPr>
              <a:t>1 V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Simulation Type:  </a:t>
            </a:r>
            <a:r>
              <a:rPr lang="en-US" sz="1050" dirty="0">
                <a:solidFill>
                  <a:srgbClr val="1A2B5E"/>
                </a:solidFill>
              </a:rPr>
              <a:t>Transient Analysis (multiple clock cycles)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Outcome:  </a:t>
            </a:r>
            <a:r>
              <a:rPr lang="en-US" sz="1050" dirty="0">
                <a:solidFill>
                  <a:srgbClr val="0E7C3A"/>
                </a:solidFill>
              </a:rPr>
              <a:t>Correct binary progression 000→111 — no glitches or race conditions.</a:t>
            </a:r>
            <a:endParaRPr lang="en-US" sz="1050" dirty="0"/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476F91-BCD9-B228-5A26-841DEB3FB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55" y="587374"/>
            <a:ext cx="8602890" cy="30071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Propagation Delay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2834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834640" cy="54864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5FA8"/>
                </a:solidFill>
              </a:rPr>
              <a:t>1.282 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</a:rPr>
              <a:t>Avg. Propagation Delay (Tpd)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12398" y="740446"/>
            <a:ext cx="2834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82112" y="713232"/>
            <a:ext cx="2834640" cy="54864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13123" y="768677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5C6E"/>
                </a:solidFill>
              </a:rPr>
              <a:t>~780 MHz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31052" y="1418263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</a:rPr>
              <a:t>Theoretical Max Frequency (fmax)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35624" y="713232"/>
            <a:ext cx="2834640" cy="54864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331720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3957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</a:rPr>
              <a:t>Propagation Delay per Counter Stage (Table 1.2)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43200"/>
          <a:ext cx="3931920" cy="1036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Output Signal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Logic Stage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Tpd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5E"/>
                          </a:solidFill>
                        </a:rPr>
                        <a:t>Q0 (LSB)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5E"/>
                          </a:solidFill>
                        </a:rPr>
                        <a:t>1st T-FF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</a:rPr>
                        <a:t>1.2 ns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5E"/>
                          </a:solidFill>
                        </a:rPr>
                        <a:t>Q1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5E"/>
                          </a:solidFill>
                        </a:rPr>
                        <a:t>2nd T-FF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</a:rPr>
                        <a:t>2.1 ns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5E"/>
                          </a:solidFill>
                        </a:rPr>
                        <a:t>Q2 (MSB)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5E"/>
                          </a:solidFill>
                        </a:rPr>
                        <a:t>3rd T-FF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</a:rPr>
                        <a:t>3.3 ns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20040" y="4361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B5E"/>
                </a:solidFill>
              </a:rPr>
              <a:t>Each stage adds cumulative delay → cascade design must account for setup time constraints.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0" y="2331720"/>
            <a:ext cx="434340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72000" y="2331720"/>
            <a:ext cx="4343400" cy="246888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915400" y="2331720"/>
            <a:ext cx="0" cy="246888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28600" y="4453128"/>
            <a:ext cx="8686800" cy="54864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65760" y="4453128"/>
            <a:ext cx="841248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5E"/>
                </a:solidFill>
                <a:latin typeface="Consolas"/>
                <a:ea typeface="Consolas" pitchFamily="34" charset="-122"/>
                <a:cs typeface="Consolas" pitchFamily="34" charset="-120"/>
              </a:rPr>
              <a:t>fmax = 1 / </a:t>
            </a:r>
            <a:r>
              <a:rPr lang="en-US" sz="1100" dirty="0" err="1">
                <a:solidFill>
                  <a:srgbClr val="1A2B5E"/>
                </a:solidFill>
                <a:latin typeface="Consolas"/>
                <a:ea typeface="Consolas" pitchFamily="34" charset="-122"/>
                <a:cs typeface="Consolas" pitchFamily="34" charset="-120"/>
              </a:rPr>
              <a:t>Tpd</a:t>
            </a:r>
            <a:r>
              <a:rPr lang="en-US" sz="1100" dirty="0">
                <a:solidFill>
                  <a:srgbClr val="1A2B5E"/>
                </a:solidFill>
                <a:latin typeface="Consolas"/>
                <a:ea typeface="Consolas" pitchFamily="34" charset="-122"/>
                <a:cs typeface="Consolas" pitchFamily="34" charset="-120"/>
              </a:rPr>
              <a:t> = 1 / (1.282 × 10⁻⁹) ≈ 780 MHz  </a:t>
            </a:r>
            <a:endParaRPr lang="en-US" sz="1100" dirty="0">
              <a:latin typeface="Consolas"/>
            </a:endParaRPr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9D9B94-B00E-4F5D-9BBA-AB84F6B33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581" y="2284412"/>
            <a:ext cx="3739697" cy="21440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2D5FA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8686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77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Device Level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1612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FD4"/>
                </a:solidFill>
              </a:rPr>
              <a:t>Robust 30 nm NMOS &amp; PMOS synthesized in Sentaurus TCAD. Correct doping + thin tox suppressed Short Channel Effects (SCE).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18013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Extraction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8541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FD4"/>
                </a:solidFill>
              </a:rPr>
              <a:t>Physical data accurately translated into Spectre (.scs) model files — seamlessly integrated into Cadence Virtuoso ADE.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" y="28254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825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Circuit Level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209544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FD4"/>
                </a:solidFill>
              </a:rPr>
              <a:t>CMOS Inverter VTC verified. 3-bit Synchronous Up Counter confirmed correct 000→111 binary sequence at 100 MHz.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032" y="38496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8496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336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FD4"/>
                </a:solidFill>
              </a:rPr>
              <a:t>Propagation delay Tpd = 1.282 ns → theoretical fmax ≈ 780 MHz. Confirms 30 nm planar MOSFETs deliver high-speed switching.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5FA8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"This project confirms that 30 nm planar MOSFETs, when properly modelled, offer the high-speed switching and density required for modern integrated systems."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31520"/>
            <a:ext cx="4206240" cy="41148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731520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Layout &amp; Parasitic Extraction (PEX)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207008"/>
            <a:ext cx="39867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Create physical GDSII layout. Analyse interconnect resistance and parasitic capacitance impact on maximum clock frequency.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73152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31520"/>
            <a:ext cx="4206240" cy="411480"/>
          </a:xfrm>
          <a:prstGeom prst="rect">
            <a:avLst/>
          </a:prstGeom>
          <a:solidFill>
            <a:srgbClr val="0E5C6E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731520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FinFET Implementation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8888" y="1207008"/>
            <a:ext cx="39867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Model a 3D FinFET in TCAD at sub-30 nm. Compare Ion/Ioff ratio and subthreshold swing against the current planar model.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88036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880360"/>
            <a:ext cx="4206240" cy="41148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" y="2880360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Power &amp; Thermal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" y="3355848"/>
            <a:ext cx="39867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Detailed study of static power dissipation and thermal gradients across the counter during high-frequency operation.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0360"/>
            <a:ext cx="4206240" cy="411480"/>
          </a:xfrm>
          <a:prstGeom prst="rect">
            <a:avLst/>
          </a:prstGeom>
          <a:solidFill>
            <a:srgbClr val="0E5C6E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2880360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Monte Carlo Simulations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3355848"/>
            <a:ext cx="39867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Account for manufacturing tolerances — analyse how Vth and oxide thickness variations affect 3-bit counting reliability.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References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85216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8580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[1] Auth &amp; Plummer (1997). Scaling theory for cylindrical, fully-depleted, surrounding-gate MOSFETs. IEEE Electron Device Letters, 18(2), 74–76.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16128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[2] Hsu &amp; Wang (2012). High-speed low-power synchronous counter using 30 nm CMOS. IEEE ISCAS Proceedings, 114–117.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636776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[3] Rabaey, Chandrakasan &amp; Nikolić (2003). Digital Integrated Circuits: A Design Perspective (2nd ed.). Pearson Education.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112264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[4] Synopsys, Inc. (2024). Sentaurus™ Device Simulation User Guide, Version V2023.12.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587752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[5] Weste &amp; Harris (2011). CMOS VLSI Design: A Circuits and Systems Perspective (4th ed.). Pearson Education.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3520440"/>
            <a:ext cx="9144000" cy="1623060"/>
          </a:xfrm>
          <a:prstGeom prst="rect">
            <a:avLst/>
          </a:prstGeom>
          <a:solidFill>
            <a:srgbClr val="0E1E4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3611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743200" y="4206240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27939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FD4"/>
                </a:solidFill>
              </a:rPr>
              <a:t>Vignesh V  |  Tarun Siva M  |  Manish 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9FD4"/>
                </a:solidFill>
              </a:rPr>
              <a:t>Guide: Dr. Girija Shanker Sahoo  |  SENSE, VIT Chennai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30 nm NMOS and PMOS Devices</dc:title>
  <dc:subject>PptxGenJS Presentation</dc:subject>
  <dc:creator>Vignesh V, Tarun Siva M, Manish V</dc:creator>
  <cp:lastModifiedBy>M Tarun Siva</cp:lastModifiedBy>
  <cp:revision>105</cp:revision>
  <dcterms:created xsi:type="dcterms:W3CDTF">2026-04-07T09:23:44Z</dcterms:created>
  <dcterms:modified xsi:type="dcterms:W3CDTF">2026-05-19T18:24:17Z</dcterms:modified>
</cp:coreProperties>
</file>